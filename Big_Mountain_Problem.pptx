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2" r:id="rId7"/>
    <p:sldId id="264" r:id="rId8"/>
    <p:sldId id="263"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60"/>
  </p:normalViewPr>
  <p:slideViewPr>
    <p:cSldViewPr snapToGrid="0">
      <p:cViewPr varScale="1">
        <p:scale>
          <a:sx n="150" d="100"/>
          <a:sy n="150" d="100"/>
        </p:scale>
        <p:origin x="70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7F425-3399-4BCA-8528-D7F5357591CE}" type="datetimeFigureOut">
              <a:rPr lang="en-IN" smtClean="0"/>
              <a:t>14-07-2025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CA4CD-D2BB-4418-AA58-FEFE1132BD83}" type="slidenum">
              <a:rPr lang="en-IN" smtClean="0"/>
              <a:t>‹#›</a:t>
            </a:fld>
            <a:endParaRPr lang="en-IN"/>
          </a:p>
        </p:txBody>
      </p:sp>
    </p:spTree>
    <p:extLst>
      <p:ext uri="{BB962C8B-B14F-4D97-AF65-F5344CB8AC3E}">
        <p14:creationId xmlns:p14="http://schemas.microsoft.com/office/powerpoint/2010/main" val="18193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EDCA4CD-D2BB-4418-AA58-FEFE1132BD83}" type="slidenum">
              <a:rPr lang="en-IN" smtClean="0"/>
              <a:t>4</a:t>
            </a:fld>
            <a:endParaRPr lang="en-IN"/>
          </a:p>
        </p:txBody>
      </p:sp>
    </p:spTree>
    <p:extLst>
      <p:ext uri="{BB962C8B-B14F-4D97-AF65-F5344CB8AC3E}">
        <p14:creationId xmlns:p14="http://schemas.microsoft.com/office/powerpoint/2010/main" val="1785006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4666-2B86-A450-2462-C2F3D6B597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AFDD99-DF95-A39E-7FB5-AE2A6A7B58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72F5E0-2093-2069-A7F0-00DCC2CA44EE}"/>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5" name="Footer Placeholder 4">
            <a:extLst>
              <a:ext uri="{FF2B5EF4-FFF2-40B4-BE49-F238E27FC236}">
                <a16:creationId xmlns:a16="http://schemas.microsoft.com/office/drawing/2014/main" id="{C5603DFD-2E3B-DCCA-28E1-C020B7FAC7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A55154-E310-ABF7-5DAE-7F61200C5933}"/>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1820778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56D6-377D-A866-1046-3F69FB97A2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A8DCCA-DB06-BECF-D07B-E2AE35E6D1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54390F-C718-ADD0-83EC-B002D1F9C853}"/>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5" name="Footer Placeholder 4">
            <a:extLst>
              <a:ext uri="{FF2B5EF4-FFF2-40B4-BE49-F238E27FC236}">
                <a16:creationId xmlns:a16="http://schemas.microsoft.com/office/drawing/2014/main" id="{879D1B88-2C68-1B9F-DED5-622DBE7764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56FC9A-B6BE-FD15-16CC-9A1D8606D1E6}"/>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2904045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27519-5F0B-A8A7-183E-8F727E3203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7A6592-CCCE-A817-85BE-CCB23C0E55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F888C-2DA1-3FA5-FBF8-D651FA440133}"/>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5" name="Footer Placeholder 4">
            <a:extLst>
              <a:ext uri="{FF2B5EF4-FFF2-40B4-BE49-F238E27FC236}">
                <a16:creationId xmlns:a16="http://schemas.microsoft.com/office/drawing/2014/main" id="{F6342348-0E76-77B1-850B-2452AF1476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6BB58-228A-9DB4-F877-FFFB891B76F5}"/>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1322691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4C55-5156-14B2-0579-1E1FB8BF46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481D3B-325C-E966-052E-B48F19F5C7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99AAE8-A399-67D5-49C6-61238E2D26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D1DA09-1643-29A6-93F7-680336138DB9}"/>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6" name="Footer Placeholder 5">
            <a:extLst>
              <a:ext uri="{FF2B5EF4-FFF2-40B4-BE49-F238E27FC236}">
                <a16:creationId xmlns:a16="http://schemas.microsoft.com/office/drawing/2014/main" id="{677C2D7C-00F0-D960-C03C-99D3DB86A6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64FC45-BC7A-739C-922A-A3C1C08A6E45}"/>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3534576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BB97-325C-8E36-2024-4AF11D03C0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AB62A7-75AE-2BCD-C7E5-4BB039F9BA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28D583-6449-55D9-9536-2B408C8E6E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80BA5A-B3CB-17DA-83A6-7ADA6B93F6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7B8C36-5E39-C8A6-C74C-96C3F79DE2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6FA0EF-FB5C-7DDE-15E4-F0AE662E5EED}"/>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8" name="Footer Placeholder 7">
            <a:extLst>
              <a:ext uri="{FF2B5EF4-FFF2-40B4-BE49-F238E27FC236}">
                <a16:creationId xmlns:a16="http://schemas.microsoft.com/office/drawing/2014/main" id="{420B528F-6323-9642-9473-BFF55EB656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C211FA8-64CE-1477-BB6E-59C92D0EA753}"/>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2596018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BA0E-FBB7-14E7-409A-55F17075AA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9BB6D1-89B2-3DAF-3CF9-F1945F9C579E}"/>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4" name="Footer Placeholder 3">
            <a:extLst>
              <a:ext uri="{FF2B5EF4-FFF2-40B4-BE49-F238E27FC236}">
                <a16:creationId xmlns:a16="http://schemas.microsoft.com/office/drawing/2014/main" id="{2C82F9B7-6E26-03EF-C94E-794CD016D6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2C9E27-E246-FDF8-DAA4-A217F1970A42}"/>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889298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CA4189-53ED-3D95-CBEA-39B012BB2A04}"/>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3" name="Footer Placeholder 2">
            <a:extLst>
              <a:ext uri="{FF2B5EF4-FFF2-40B4-BE49-F238E27FC236}">
                <a16:creationId xmlns:a16="http://schemas.microsoft.com/office/drawing/2014/main" id="{7F1F1BF9-719F-960E-8341-1C4CBDD775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F39460-5BC9-73AD-8B62-D62AF54FAE5D}"/>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47789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FD971-8B45-826F-50E1-DD9D1529F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729DD0-930F-643D-E563-D08B20C781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43346B-9C28-C097-96FB-7C01F8B0F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88625-CFE3-B02B-3BB1-8BB3B351C6FC}"/>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6" name="Footer Placeholder 5">
            <a:extLst>
              <a:ext uri="{FF2B5EF4-FFF2-40B4-BE49-F238E27FC236}">
                <a16:creationId xmlns:a16="http://schemas.microsoft.com/office/drawing/2014/main" id="{700B9B5E-8324-FC4F-32BA-226A7A200A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71F7EE-FC48-3334-44F3-BDD8E024C51E}"/>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2674120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8ADD-5A53-ED73-81C4-36EDFA61F6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C3F197-002D-EC43-903C-166846D8F9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1E92A6-CF09-F89E-8BB5-58795604F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58CB13-BC66-D915-7D35-11E8DB663190}"/>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6" name="Footer Placeholder 5">
            <a:extLst>
              <a:ext uri="{FF2B5EF4-FFF2-40B4-BE49-F238E27FC236}">
                <a16:creationId xmlns:a16="http://schemas.microsoft.com/office/drawing/2014/main" id="{F118FB2A-BC0D-E5BD-DAA7-790A772446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EBEF0C-39C8-CB3F-5A9B-82BE9E43DCA0}"/>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3184791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F7E36-AF8B-AF9F-9F9B-69704EBB35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606F41-878F-36A9-2FAA-6C3CEDEF59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E22416-69EA-C645-8566-CC4F5C2DAB5A}"/>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5" name="Footer Placeholder 4">
            <a:extLst>
              <a:ext uri="{FF2B5EF4-FFF2-40B4-BE49-F238E27FC236}">
                <a16:creationId xmlns:a16="http://schemas.microsoft.com/office/drawing/2014/main" id="{51A3AE50-5ECF-9720-259E-CF00249550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0AAB69-0E5D-337B-1317-BE6768BA6D91}"/>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1639231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DB295-F2DA-35E0-0092-83B7AD7DBF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387EA7-8EA5-8A6A-29CC-176D8B1715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DCCC05-D896-307D-92EA-9BADCF75890E}"/>
              </a:ext>
            </a:extLst>
          </p:cNvPr>
          <p:cNvSpPr>
            <a:spLocks noGrp="1"/>
          </p:cNvSpPr>
          <p:nvPr>
            <p:ph type="dt" sz="half" idx="10"/>
          </p:nvPr>
        </p:nvSpPr>
        <p:spPr/>
        <p:txBody>
          <a:bodyPr/>
          <a:lstStyle/>
          <a:p>
            <a:fld id="{ED1EF9CA-F52C-4FAA-92C4-8A7147C0CDB1}" type="datetimeFigureOut">
              <a:rPr lang="en-IN" smtClean="0"/>
              <a:t>14-07-2025</a:t>
            </a:fld>
            <a:endParaRPr lang="en-IN"/>
          </a:p>
        </p:txBody>
      </p:sp>
      <p:sp>
        <p:nvSpPr>
          <p:cNvPr id="5" name="Footer Placeholder 4">
            <a:extLst>
              <a:ext uri="{FF2B5EF4-FFF2-40B4-BE49-F238E27FC236}">
                <a16:creationId xmlns:a16="http://schemas.microsoft.com/office/drawing/2014/main" id="{C2D25FA4-B31D-F64A-F3E5-A88B3634F0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E252B2-B257-830C-7D2D-0249F31AC259}"/>
              </a:ext>
            </a:extLst>
          </p:cNvPr>
          <p:cNvSpPr>
            <a:spLocks noGrp="1"/>
          </p:cNvSpPr>
          <p:nvPr>
            <p:ph type="sldNum" sz="quarter" idx="12"/>
          </p:nvPr>
        </p:nvSpPr>
        <p:spPr/>
        <p:txBody>
          <a:bodyPr/>
          <a:lstStyle/>
          <a:p>
            <a:fld id="{6A3974FD-4D03-4E73-8263-DE2B1306A5FB}" type="slidenum">
              <a:rPr lang="en-IN" smtClean="0"/>
              <a:t>‹#›</a:t>
            </a:fld>
            <a:endParaRPr lang="en-IN"/>
          </a:p>
        </p:txBody>
      </p:sp>
    </p:spTree>
    <p:extLst>
      <p:ext uri="{BB962C8B-B14F-4D97-AF65-F5344CB8AC3E}">
        <p14:creationId xmlns:p14="http://schemas.microsoft.com/office/powerpoint/2010/main" val="3839889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A24B83-DCC9-32D6-07B3-153A6D1C86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95A1AF-D5B5-FA12-BEF6-7F10E759C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615D18-7C53-6A11-CC70-18A74122BB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1EF9CA-F52C-4FAA-92C4-8A7147C0CDB1}" type="datetimeFigureOut">
              <a:rPr lang="en-IN" smtClean="0"/>
              <a:t>14-07-2025</a:t>
            </a:fld>
            <a:endParaRPr lang="en-IN"/>
          </a:p>
        </p:txBody>
      </p:sp>
      <p:sp>
        <p:nvSpPr>
          <p:cNvPr id="5" name="Footer Placeholder 4">
            <a:extLst>
              <a:ext uri="{FF2B5EF4-FFF2-40B4-BE49-F238E27FC236}">
                <a16:creationId xmlns:a16="http://schemas.microsoft.com/office/drawing/2014/main" id="{7B3EC1E7-464E-DCED-EBA2-E0281E92E5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440766-0539-9363-8BB4-082675F051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3974FD-4D03-4E73-8263-DE2B1306A5FB}" type="slidenum">
              <a:rPr lang="en-IN" smtClean="0"/>
              <a:t>‹#›</a:t>
            </a:fld>
            <a:endParaRPr lang="en-IN"/>
          </a:p>
        </p:txBody>
      </p:sp>
    </p:spTree>
    <p:extLst>
      <p:ext uri="{BB962C8B-B14F-4D97-AF65-F5344CB8AC3E}">
        <p14:creationId xmlns:p14="http://schemas.microsoft.com/office/powerpoint/2010/main" val="2603485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55396-C9E4-300C-51CA-ADED4BBFF0F6}"/>
              </a:ext>
            </a:extLst>
          </p:cNvPr>
          <p:cNvSpPr>
            <a:spLocks noGrp="1"/>
          </p:cNvSpPr>
          <p:nvPr>
            <p:ph type="ctrTitle"/>
          </p:nvPr>
        </p:nvSpPr>
        <p:spPr>
          <a:xfrm>
            <a:off x="1479550" y="1047749"/>
            <a:ext cx="9144000" cy="1300163"/>
          </a:xfrm>
        </p:spPr>
        <p:txBody>
          <a:bodyPr>
            <a:noAutofit/>
          </a:bodyPr>
          <a:lstStyle/>
          <a:p>
            <a:r>
              <a:rPr lang="en-IN" b="1" dirty="0"/>
              <a:t>Project Title</a:t>
            </a:r>
            <a:endParaRPr lang="en-IN" dirty="0"/>
          </a:p>
        </p:txBody>
      </p:sp>
      <p:sp>
        <p:nvSpPr>
          <p:cNvPr id="3" name="Subtitle 2">
            <a:extLst>
              <a:ext uri="{FF2B5EF4-FFF2-40B4-BE49-F238E27FC236}">
                <a16:creationId xmlns:a16="http://schemas.microsoft.com/office/drawing/2014/main" id="{BD04BE56-82BC-EEA2-952C-23A60B644215}"/>
              </a:ext>
            </a:extLst>
          </p:cNvPr>
          <p:cNvSpPr>
            <a:spLocks noGrp="1"/>
          </p:cNvSpPr>
          <p:nvPr>
            <p:ph type="subTitle" idx="1"/>
          </p:nvPr>
        </p:nvSpPr>
        <p:spPr>
          <a:xfrm>
            <a:off x="1524000" y="2998788"/>
            <a:ext cx="9144000" cy="1655762"/>
          </a:xfrm>
        </p:spPr>
        <p:txBody>
          <a:bodyPr/>
          <a:lstStyle/>
          <a:p>
            <a:endParaRPr lang="en-IN" dirty="0"/>
          </a:p>
          <a:p>
            <a:endParaRPr lang="en-IN" dirty="0"/>
          </a:p>
          <a:p>
            <a:r>
              <a:rPr lang="en-IN" sz="3200" dirty="0"/>
              <a:t>Predicting ticket prices for Big Mountain resort</a:t>
            </a:r>
          </a:p>
        </p:txBody>
      </p:sp>
    </p:spTree>
    <p:extLst>
      <p:ext uri="{BB962C8B-B14F-4D97-AF65-F5344CB8AC3E}">
        <p14:creationId xmlns:p14="http://schemas.microsoft.com/office/powerpoint/2010/main" val="3339763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798A-2ADC-E69F-959E-6D99F94A7579}"/>
              </a:ext>
            </a:extLst>
          </p:cNvPr>
          <p:cNvSpPr>
            <a:spLocks noGrp="1"/>
          </p:cNvSpPr>
          <p:nvPr>
            <p:ph type="title"/>
          </p:nvPr>
        </p:nvSpPr>
        <p:spPr/>
        <p:txBody>
          <a:bodyPr/>
          <a:lstStyle/>
          <a:p>
            <a:r>
              <a:rPr lang="en-IN" dirty="0"/>
              <a:t>Problem Identification </a:t>
            </a:r>
          </a:p>
        </p:txBody>
      </p:sp>
      <p:sp>
        <p:nvSpPr>
          <p:cNvPr id="3" name="Content Placeholder 2">
            <a:extLst>
              <a:ext uri="{FF2B5EF4-FFF2-40B4-BE49-F238E27FC236}">
                <a16:creationId xmlns:a16="http://schemas.microsoft.com/office/drawing/2014/main" id="{8C22230F-5655-0B22-9FFD-07F8D498F433}"/>
              </a:ext>
            </a:extLst>
          </p:cNvPr>
          <p:cNvSpPr>
            <a:spLocks noGrp="1"/>
          </p:cNvSpPr>
          <p:nvPr>
            <p:ph idx="1"/>
          </p:nvPr>
        </p:nvSpPr>
        <p:spPr>
          <a:xfrm>
            <a:off x="838200" y="1825625"/>
            <a:ext cx="11118448" cy="4351338"/>
          </a:xfrm>
        </p:spPr>
        <p:txBody>
          <a:bodyPr>
            <a:normAutofit/>
          </a:bodyPr>
          <a:lstStyle/>
          <a:p>
            <a:pPr>
              <a:lnSpc>
                <a:spcPct val="100000"/>
              </a:lnSpc>
            </a:pPr>
            <a:r>
              <a:rPr lang="en-IN" sz="1800" dirty="0"/>
              <a:t>B</a:t>
            </a:r>
            <a:r>
              <a:rPr lang="en-US" sz="1800" dirty="0" err="1"/>
              <a:t>ig</a:t>
            </a:r>
            <a:r>
              <a:rPr lang="en-US" sz="1800" dirty="0"/>
              <a:t> Mountain Resort, a ski resort located in Montana offers spectacular views of Glacier National Park and Flathead National Forest, with access to 105 trails. Every year about 350,000 people ski or snowboard at Big Mountain. This mountain can accommodate skiers and riders of all levels and abilities. Big Mountain Resort has recently installed an additional chair lift to help increase the distribution of visitors across the mountain which increased their operating costs by $1,540,000 this season. Management wants to monitor the ticket price either by cost cut and without having to reduce ticket prices or improve their offering so that they can increase their ticket prices even more. </a:t>
            </a:r>
          </a:p>
          <a:p>
            <a:pPr>
              <a:lnSpc>
                <a:spcPct val="100000"/>
              </a:lnSpc>
            </a:pPr>
            <a:endParaRPr lang="en-US" sz="1800" dirty="0"/>
          </a:p>
          <a:p>
            <a:r>
              <a:rPr lang="en-US" sz="2000" dirty="0"/>
              <a:t>The criteria for success is: Capitalizing on the facilities and adjusting ticket prices to reduce operating costs.</a:t>
            </a:r>
          </a:p>
          <a:p>
            <a:r>
              <a:rPr lang="en-US" sz="2000" dirty="0"/>
              <a:t>Constraints within Solution Space:</a:t>
            </a:r>
          </a:p>
          <a:p>
            <a:pPr lvl="1">
              <a:buFont typeface="Wingdings" panose="05000000000000000000" pitchFamily="2" charset="2"/>
              <a:buChar char="Ø"/>
            </a:pPr>
            <a:r>
              <a:rPr lang="en-US" sz="1600" dirty="0"/>
              <a:t> Not capitalizing their facilities</a:t>
            </a:r>
          </a:p>
          <a:p>
            <a:pPr lvl="1">
              <a:buFont typeface="Wingdings" panose="05000000000000000000" pitchFamily="2" charset="2"/>
              <a:buChar char="Ø"/>
            </a:pPr>
            <a:r>
              <a:rPr lang="en-US" sz="1600" dirty="0"/>
              <a:t> Basing their pricing on just the market average</a:t>
            </a:r>
          </a:p>
          <a:p>
            <a:pPr lvl="1">
              <a:buFont typeface="Wingdings" panose="05000000000000000000" pitchFamily="2" charset="2"/>
              <a:buChar char="Ø"/>
            </a:pPr>
            <a:r>
              <a:rPr lang="en-US" sz="1600" dirty="0"/>
              <a:t> Not reducing the ticket price and charging premium above the average price of resorts in its market segment. </a:t>
            </a:r>
            <a:endParaRPr lang="en-IN" sz="1600" dirty="0"/>
          </a:p>
        </p:txBody>
      </p:sp>
    </p:spTree>
    <p:extLst>
      <p:ext uri="{BB962C8B-B14F-4D97-AF65-F5344CB8AC3E}">
        <p14:creationId xmlns:p14="http://schemas.microsoft.com/office/powerpoint/2010/main" val="1143260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E859-DD45-67FD-51D3-EB9CB57096DE}"/>
              </a:ext>
            </a:extLst>
          </p:cNvPr>
          <p:cNvSpPr>
            <a:spLocks noGrp="1"/>
          </p:cNvSpPr>
          <p:nvPr>
            <p:ph type="title"/>
          </p:nvPr>
        </p:nvSpPr>
        <p:spPr/>
        <p:txBody>
          <a:bodyPr/>
          <a:lstStyle/>
          <a:p>
            <a:r>
              <a:rPr lang="en-IN" dirty="0"/>
              <a:t>Problem Identification </a:t>
            </a:r>
          </a:p>
        </p:txBody>
      </p:sp>
      <p:sp>
        <p:nvSpPr>
          <p:cNvPr id="3" name="Content Placeholder 2">
            <a:extLst>
              <a:ext uri="{FF2B5EF4-FFF2-40B4-BE49-F238E27FC236}">
                <a16:creationId xmlns:a16="http://schemas.microsoft.com/office/drawing/2014/main" id="{E07FE79B-0F11-EF20-7CE5-B41E3A41929E}"/>
              </a:ext>
            </a:extLst>
          </p:cNvPr>
          <p:cNvSpPr>
            <a:spLocks noGrp="1"/>
          </p:cNvSpPr>
          <p:nvPr>
            <p:ph idx="1"/>
          </p:nvPr>
        </p:nvSpPr>
        <p:spPr/>
        <p:txBody>
          <a:bodyPr/>
          <a:lstStyle/>
          <a:p>
            <a:r>
              <a:rPr lang="en-IN" dirty="0"/>
              <a:t>Stakeholders to provide key insight:</a:t>
            </a:r>
          </a:p>
          <a:p>
            <a:pPr lvl="2">
              <a:buFont typeface="Wingdings" panose="05000000000000000000" pitchFamily="2" charset="2"/>
              <a:buChar char="Ø"/>
            </a:pPr>
            <a:r>
              <a:rPr lang="en-US" dirty="0"/>
              <a:t>Jimmy Blackburn (Director of Operations), </a:t>
            </a:r>
          </a:p>
          <a:p>
            <a:pPr lvl="2">
              <a:buFont typeface="Wingdings" panose="05000000000000000000" pitchFamily="2" charset="2"/>
              <a:buChar char="Ø"/>
            </a:pPr>
            <a:r>
              <a:rPr lang="en-US" dirty="0"/>
              <a:t>Alesha Eisen(Database Manager),</a:t>
            </a:r>
          </a:p>
          <a:p>
            <a:pPr marL="0" indent="0">
              <a:buNone/>
            </a:pPr>
            <a:endParaRPr lang="en-IN" dirty="0"/>
          </a:p>
          <a:p>
            <a:pPr>
              <a:lnSpc>
                <a:spcPct val="150000"/>
              </a:lnSpc>
            </a:pPr>
            <a:r>
              <a:rPr lang="en-IN" sz="2400" dirty="0"/>
              <a:t>Key data sources: </a:t>
            </a:r>
            <a:r>
              <a:rPr lang="en-US" sz="2400" dirty="0"/>
              <a:t>The data is loaded in the metadata to guide in identifying the important columns needed to complete this project. </a:t>
            </a:r>
          </a:p>
          <a:p>
            <a:pPr>
              <a:lnSpc>
                <a:spcPct val="150000"/>
              </a:lnSpc>
            </a:pPr>
            <a:r>
              <a:rPr lang="en-US" sz="2400" dirty="0"/>
              <a:t> Specific user level access granted to a SQL database or an S3 bucket</a:t>
            </a:r>
            <a:endParaRPr lang="en-IN" sz="2400" dirty="0"/>
          </a:p>
        </p:txBody>
      </p:sp>
    </p:spTree>
    <p:extLst>
      <p:ext uri="{BB962C8B-B14F-4D97-AF65-F5344CB8AC3E}">
        <p14:creationId xmlns:p14="http://schemas.microsoft.com/office/powerpoint/2010/main" val="343028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72C6-71F4-3E69-963D-10C9FB4F5852}"/>
              </a:ext>
            </a:extLst>
          </p:cNvPr>
          <p:cNvSpPr>
            <a:spLocks noGrp="1"/>
          </p:cNvSpPr>
          <p:nvPr>
            <p:ph type="title"/>
          </p:nvPr>
        </p:nvSpPr>
        <p:spPr/>
        <p:txBody>
          <a:bodyPr/>
          <a:lstStyle/>
          <a:p>
            <a:r>
              <a:rPr lang="en-US" dirty="0"/>
              <a:t>Recommendation and key findings</a:t>
            </a:r>
            <a:br>
              <a:rPr lang="en-US" dirty="0"/>
            </a:br>
            <a:endParaRPr lang="en-IN" dirty="0"/>
          </a:p>
        </p:txBody>
      </p:sp>
      <p:sp>
        <p:nvSpPr>
          <p:cNvPr id="3" name="Content Placeholder 2">
            <a:extLst>
              <a:ext uri="{FF2B5EF4-FFF2-40B4-BE49-F238E27FC236}">
                <a16:creationId xmlns:a16="http://schemas.microsoft.com/office/drawing/2014/main" id="{643F1C70-A258-4DD8-E7C0-FCBB42B3916E}"/>
              </a:ext>
            </a:extLst>
          </p:cNvPr>
          <p:cNvSpPr>
            <a:spLocks noGrp="1"/>
          </p:cNvSpPr>
          <p:nvPr>
            <p:ph idx="1"/>
          </p:nvPr>
        </p:nvSpPr>
        <p:spPr>
          <a:xfrm>
            <a:off x="838200" y="1320800"/>
            <a:ext cx="11010900" cy="4856163"/>
          </a:xfrm>
        </p:spPr>
        <p:txBody>
          <a:bodyPr>
            <a:normAutofit fontScale="55000" lnSpcReduction="20000"/>
          </a:bodyPr>
          <a:lstStyle/>
          <a:p>
            <a:pPr algn="just">
              <a:lnSpc>
                <a:spcPct val="120000"/>
              </a:lnSpc>
            </a:pPr>
            <a:r>
              <a:rPr lang="en-IN" dirty="0"/>
              <a:t>The actual price for Big Mountain Resort is $81.0, but modelling suggests a ticket price of $97.85, which suggests there is still room to increase the ticket prices, given big mountains strong facilities offerings. But increasing ticket prices by $16.85 doesn’t seem suitable. Rather we can expect the ticket price to be increase by $5-$7 making the ticket price somewhere between $85-$87 would be a better choice and it will cover the cost of new chair lift and will be in market competition too.</a:t>
            </a:r>
          </a:p>
          <a:p>
            <a:pPr algn="just">
              <a:lnSpc>
                <a:spcPct val="120000"/>
              </a:lnSpc>
            </a:pPr>
            <a:endParaRPr lang="en-IN" dirty="0"/>
          </a:p>
          <a:p>
            <a:pPr algn="just">
              <a:lnSpc>
                <a:spcPct val="120000"/>
              </a:lnSpc>
            </a:pPr>
            <a:r>
              <a:rPr lang="en-IN" dirty="0"/>
              <a:t>The data focused only on ticket price for modelling ticket price. This could lead to lack of information from other factors, such as maintenance costs, staff expenses and some other notable factors. We had information on operating costs of the new chair lift, but some other information cost such as maintenance cost, food and beverages supply and/or staff expenses would be useful in modelling the ticket prices here. </a:t>
            </a:r>
          </a:p>
          <a:p>
            <a:pPr algn="just">
              <a:lnSpc>
                <a:spcPct val="120000"/>
              </a:lnSpc>
            </a:pPr>
            <a:endParaRPr lang="en-IN" dirty="0"/>
          </a:p>
          <a:p>
            <a:pPr algn="just">
              <a:lnSpc>
                <a:spcPct val="120000"/>
              </a:lnSpc>
            </a:pPr>
            <a:r>
              <a:rPr lang="en-IN" dirty="0"/>
              <a:t>Yes, Big Mountain's modelled ticket price is 97.85 which seems pretty high than its actual price which is 81.0. This could be due to whether big mountain is undervaluing its offerings or they are not focusing on features where customers want to pay more. To decide a profitable ticket price without losing market competitiveness we can discuss with stake holders and/or compare price with other big-league resorts. To make this model we can create an interactive dashboard for stakeholders or business leaders giving proper documentation where they can input and see the changes in features according to the trend.</a:t>
            </a:r>
          </a:p>
          <a:p>
            <a:pPr algn="just"/>
            <a:endParaRPr lang="en-IN" dirty="0"/>
          </a:p>
        </p:txBody>
      </p:sp>
    </p:spTree>
    <p:extLst>
      <p:ext uri="{BB962C8B-B14F-4D97-AF65-F5344CB8AC3E}">
        <p14:creationId xmlns:p14="http://schemas.microsoft.com/office/powerpoint/2010/main" val="105848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5C27-5B4B-BE0F-5FB1-8B0924AB0570}"/>
              </a:ext>
            </a:extLst>
          </p:cNvPr>
          <p:cNvSpPr>
            <a:spLocks noGrp="1"/>
          </p:cNvSpPr>
          <p:nvPr>
            <p:ph type="title"/>
          </p:nvPr>
        </p:nvSpPr>
        <p:spPr/>
        <p:txBody>
          <a:bodyPr>
            <a:normAutofit/>
          </a:bodyPr>
          <a:lstStyle/>
          <a:p>
            <a:r>
              <a:rPr lang="en-US" dirty="0"/>
              <a:t>Modeling results and analysis</a:t>
            </a:r>
            <a:endParaRPr lang="en-IN" dirty="0"/>
          </a:p>
        </p:txBody>
      </p:sp>
      <p:sp>
        <p:nvSpPr>
          <p:cNvPr id="3" name="Content Placeholder 2">
            <a:extLst>
              <a:ext uri="{FF2B5EF4-FFF2-40B4-BE49-F238E27FC236}">
                <a16:creationId xmlns:a16="http://schemas.microsoft.com/office/drawing/2014/main" id="{519A4AFC-260F-B65E-A24F-5A1C21BF1447}"/>
              </a:ext>
            </a:extLst>
          </p:cNvPr>
          <p:cNvSpPr>
            <a:spLocks noGrp="1"/>
          </p:cNvSpPr>
          <p:nvPr>
            <p:ph idx="1"/>
          </p:nvPr>
        </p:nvSpPr>
        <p:spPr/>
        <p:txBody>
          <a:bodyPr>
            <a:normAutofit lnSpcReduction="10000"/>
          </a:bodyPr>
          <a:lstStyle/>
          <a:p>
            <a:pPr marL="0" indent="0" fontAlgn="base">
              <a:buNone/>
            </a:pPr>
            <a:r>
              <a:rPr lang="en-IN" sz="2400" b="1" u="sng" dirty="0"/>
              <a:t>Model Preprocessing with feature engineering: </a:t>
            </a:r>
            <a:endParaRPr lang="en-IN" sz="2400" dirty="0"/>
          </a:p>
          <a:p>
            <a:pPr lvl="0" fontAlgn="base"/>
            <a:r>
              <a:rPr lang="en-IN" sz="1800" dirty="0"/>
              <a:t>We divided the data into 70/30 ratio of train and test splits to evaluate model performance. </a:t>
            </a:r>
          </a:p>
          <a:p>
            <a:pPr lvl="0" fontAlgn="base"/>
            <a:endParaRPr lang="en-IN" sz="1800" dirty="0"/>
          </a:p>
          <a:p>
            <a:pPr lvl="0" fontAlgn="base"/>
            <a:r>
              <a:rPr lang="en-IN" sz="1800" dirty="0"/>
              <a:t>We calculated coefficient of determination, mean absolute error, mean squared error from </a:t>
            </a:r>
            <a:r>
              <a:rPr lang="en-IN" sz="1800" dirty="0" err="1"/>
              <a:t>sklearn</a:t>
            </a:r>
            <a:r>
              <a:rPr lang="en-IN" sz="1800" dirty="0"/>
              <a:t> metrics. </a:t>
            </a:r>
          </a:p>
          <a:p>
            <a:pPr lvl="0" fontAlgn="base"/>
            <a:endParaRPr lang="en-IN" sz="1800" dirty="0"/>
          </a:p>
          <a:p>
            <a:pPr lvl="0" fontAlgn="base"/>
            <a:r>
              <a:rPr lang="en-IN" sz="1800" dirty="0"/>
              <a:t>We imputed missing values with median and mean. </a:t>
            </a:r>
          </a:p>
          <a:p>
            <a:pPr lvl="0" fontAlgn="base"/>
            <a:endParaRPr lang="en-IN" sz="1800" dirty="0"/>
          </a:p>
          <a:p>
            <a:pPr lvl="0" fontAlgn="base"/>
            <a:r>
              <a:rPr lang="en-IN" sz="1800" dirty="0"/>
              <a:t>Introducing pipeline for linear regression model which performs all the steps from replacing missing values, scaling the data to zero mean and unit variance and training a linear regression model. </a:t>
            </a:r>
          </a:p>
          <a:p>
            <a:pPr lvl="0" fontAlgn="base"/>
            <a:endParaRPr lang="en-IN" sz="1800" dirty="0"/>
          </a:p>
          <a:p>
            <a:pPr lvl="0" fontAlgn="base"/>
            <a:r>
              <a:rPr lang="en-IN" sz="1800" dirty="0"/>
              <a:t>We used a Random Forest Regressor as the final model after testing Linear Regression. Preprocessing included scaling, PCA for visualization, and mean imputation. The random forest model has a lower cross-validation mean absolute error by almost $1. It also exhibits less variability. </a:t>
            </a:r>
          </a:p>
          <a:p>
            <a:endParaRPr lang="en-IN" sz="1800" dirty="0"/>
          </a:p>
        </p:txBody>
      </p:sp>
    </p:spTree>
    <p:extLst>
      <p:ext uri="{BB962C8B-B14F-4D97-AF65-F5344CB8AC3E}">
        <p14:creationId xmlns:p14="http://schemas.microsoft.com/office/powerpoint/2010/main" val="2131644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3935-737C-2037-D015-0A6AE83E61A3}"/>
              </a:ext>
            </a:extLst>
          </p:cNvPr>
          <p:cNvSpPr>
            <a:spLocks noGrp="1"/>
          </p:cNvSpPr>
          <p:nvPr>
            <p:ph type="title"/>
          </p:nvPr>
        </p:nvSpPr>
        <p:spPr/>
        <p:txBody>
          <a:bodyPr>
            <a:normAutofit/>
          </a:bodyPr>
          <a:lstStyle/>
          <a:p>
            <a:r>
              <a:rPr lang="en-US" dirty="0"/>
              <a:t>Modeling results and analysis</a:t>
            </a:r>
            <a:endParaRPr lang="en-IN" dirty="0"/>
          </a:p>
        </p:txBody>
      </p:sp>
      <p:sp>
        <p:nvSpPr>
          <p:cNvPr id="3" name="Content Placeholder 2">
            <a:extLst>
              <a:ext uri="{FF2B5EF4-FFF2-40B4-BE49-F238E27FC236}">
                <a16:creationId xmlns:a16="http://schemas.microsoft.com/office/drawing/2014/main" id="{90C31BD0-8DB7-D4F5-11C8-C7D7050F33EF}"/>
              </a:ext>
            </a:extLst>
          </p:cNvPr>
          <p:cNvSpPr>
            <a:spLocks noGrp="1"/>
          </p:cNvSpPr>
          <p:nvPr>
            <p:ph idx="1"/>
          </p:nvPr>
        </p:nvSpPr>
        <p:spPr/>
        <p:txBody>
          <a:bodyPr>
            <a:normAutofit lnSpcReduction="10000"/>
          </a:bodyPr>
          <a:lstStyle/>
          <a:p>
            <a:pPr marL="0" indent="0" fontAlgn="base">
              <a:buNone/>
            </a:pPr>
            <a:r>
              <a:rPr lang="en-IN" sz="2400" b="1" u="sng" dirty="0"/>
              <a:t>Algorithms used to build the model with evaluation metric:</a:t>
            </a:r>
            <a:endParaRPr lang="en-IN" sz="2400" dirty="0"/>
          </a:p>
          <a:p>
            <a:pPr marL="0" indent="0" fontAlgn="base">
              <a:buNone/>
            </a:pPr>
            <a:endParaRPr lang="en-IN" sz="1800" dirty="0"/>
          </a:p>
          <a:p>
            <a:pPr marL="0" indent="0" fontAlgn="base">
              <a:buNone/>
            </a:pPr>
            <a:r>
              <a:rPr lang="en-IN" sz="1800" dirty="0"/>
              <a:t>Algorithm used to build the models was defining the pipelines which performs the following steps: </a:t>
            </a:r>
          </a:p>
          <a:p>
            <a:pPr marL="0" indent="0" fontAlgn="base">
              <a:buNone/>
            </a:pPr>
            <a:endParaRPr lang="en-IN" sz="1800" dirty="0"/>
          </a:p>
          <a:p>
            <a:pPr lvl="0" fontAlgn="base"/>
            <a:r>
              <a:rPr lang="en-IN" sz="1800" dirty="0"/>
              <a:t>replace missing values with the median for each feature</a:t>
            </a:r>
          </a:p>
          <a:p>
            <a:pPr lvl="0" fontAlgn="base"/>
            <a:endParaRPr lang="en-IN" sz="1800" dirty="0"/>
          </a:p>
          <a:p>
            <a:pPr lvl="0" fontAlgn="base"/>
            <a:r>
              <a:rPr lang="en-IN" sz="1800" dirty="0"/>
              <a:t>scale the data to zero mean and unit variance</a:t>
            </a:r>
          </a:p>
          <a:p>
            <a:pPr lvl="0" fontAlgn="base"/>
            <a:endParaRPr lang="en-IN" sz="1800" dirty="0"/>
          </a:p>
          <a:p>
            <a:pPr lvl="0" fontAlgn="base"/>
            <a:r>
              <a:rPr lang="en-IN" sz="1800" dirty="0"/>
              <a:t>train a linear regression model/random forest regressor </a:t>
            </a:r>
          </a:p>
          <a:p>
            <a:pPr lvl="0" fontAlgn="base"/>
            <a:endParaRPr lang="en-IN" sz="1800" dirty="0"/>
          </a:p>
          <a:p>
            <a:pPr fontAlgn="base"/>
            <a:r>
              <a:rPr lang="en-IN" sz="1800" dirty="0"/>
              <a:t>The following models were trained, cross-validated, and evaluated using Mean Absolute Error (MAE) as the primary metric.</a:t>
            </a:r>
          </a:p>
          <a:p>
            <a:endParaRPr lang="en-IN" dirty="0"/>
          </a:p>
        </p:txBody>
      </p:sp>
    </p:spTree>
    <p:extLst>
      <p:ext uri="{BB962C8B-B14F-4D97-AF65-F5344CB8AC3E}">
        <p14:creationId xmlns:p14="http://schemas.microsoft.com/office/powerpoint/2010/main" val="1841573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3A187-3D18-EFC3-4D61-61BD7DC20835}"/>
              </a:ext>
            </a:extLst>
          </p:cNvPr>
          <p:cNvSpPr>
            <a:spLocks noGrp="1"/>
          </p:cNvSpPr>
          <p:nvPr>
            <p:ph type="title"/>
          </p:nvPr>
        </p:nvSpPr>
        <p:spPr/>
        <p:txBody>
          <a:bodyPr/>
          <a:lstStyle/>
          <a:p>
            <a:r>
              <a:rPr lang="en-US"/>
              <a:t>Modeling results and analysis</a:t>
            </a:r>
            <a:endParaRPr lang="en-IN"/>
          </a:p>
        </p:txBody>
      </p:sp>
      <p:pic>
        <p:nvPicPr>
          <p:cNvPr id="5" name="Content Placeholder 4">
            <a:extLst>
              <a:ext uri="{FF2B5EF4-FFF2-40B4-BE49-F238E27FC236}">
                <a16:creationId xmlns:a16="http://schemas.microsoft.com/office/drawing/2014/main" id="{A2A32199-B5FB-46DA-85C0-79A30703F5A3}"/>
              </a:ext>
            </a:extLst>
          </p:cNvPr>
          <p:cNvPicPr>
            <a:picLocks noGrp="1" noChangeAspect="1"/>
          </p:cNvPicPr>
          <p:nvPr>
            <p:ph idx="1"/>
          </p:nvPr>
        </p:nvPicPr>
        <p:blipFill>
          <a:blip r:embed="rId2"/>
          <a:stretch>
            <a:fillRect/>
          </a:stretch>
        </p:blipFill>
        <p:spPr>
          <a:xfrm>
            <a:off x="1804485" y="1825625"/>
            <a:ext cx="8583029" cy="4351338"/>
          </a:xfrm>
        </p:spPr>
      </p:pic>
    </p:spTree>
    <p:extLst>
      <p:ext uri="{BB962C8B-B14F-4D97-AF65-F5344CB8AC3E}">
        <p14:creationId xmlns:p14="http://schemas.microsoft.com/office/powerpoint/2010/main" val="321254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E4DD-AE02-46A9-15E4-0092078C4187}"/>
              </a:ext>
            </a:extLst>
          </p:cNvPr>
          <p:cNvSpPr>
            <a:spLocks noGrp="1"/>
          </p:cNvSpPr>
          <p:nvPr>
            <p:ph type="title"/>
          </p:nvPr>
        </p:nvSpPr>
        <p:spPr/>
        <p:txBody>
          <a:bodyPr/>
          <a:lstStyle/>
          <a:p>
            <a:r>
              <a:rPr lang="en-US" dirty="0"/>
              <a:t>Modeling results and analysis</a:t>
            </a:r>
            <a:endParaRPr lang="en-IN" dirty="0"/>
          </a:p>
        </p:txBody>
      </p:sp>
      <p:sp>
        <p:nvSpPr>
          <p:cNvPr id="3" name="Content Placeholder 2">
            <a:extLst>
              <a:ext uri="{FF2B5EF4-FFF2-40B4-BE49-F238E27FC236}">
                <a16:creationId xmlns:a16="http://schemas.microsoft.com/office/drawing/2014/main" id="{870AEBA0-3E4D-40B6-CEC7-C7915AE5A405}"/>
              </a:ext>
            </a:extLst>
          </p:cNvPr>
          <p:cNvSpPr>
            <a:spLocks noGrp="1"/>
          </p:cNvSpPr>
          <p:nvPr>
            <p:ph idx="1"/>
          </p:nvPr>
        </p:nvSpPr>
        <p:spPr/>
        <p:txBody>
          <a:bodyPr>
            <a:normAutofit fontScale="92500" lnSpcReduction="20000"/>
          </a:bodyPr>
          <a:lstStyle/>
          <a:p>
            <a:pPr marL="0" indent="0" fontAlgn="base">
              <a:buNone/>
            </a:pPr>
            <a:r>
              <a:rPr lang="en-IN" sz="2600" b="1" dirty="0"/>
              <a:t>Winning model and scenario modelling: </a:t>
            </a:r>
          </a:p>
          <a:p>
            <a:pPr marL="0" indent="0" fontAlgn="base">
              <a:buNone/>
            </a:pPr>
            <a:r>
              <a:rPr lang="en-IN" sz="2100" dirty="0"/>
              <a:t>Modelled Price for Big Mountain: $97.85, but the actual Price: $81.00. This significant gap suggests the resort is underpriced by ~$17, despite having superior facilities.</a:t>
            </a:r>
          </a:p>
          <a:p>
            <a:pPr marL="0" indent="0" fontAlgn="base">
              <a:buNone/>
            </a:pPr>
            <a:r>
              <a:rPr lang="en-IN" sz="2400" dirty="0"/>
              <a:t>Big Mountain was reviewing some potential scenarios for either cost cuttings or increasing revenues which were: </a:t>
            </a:r>
          </a:p>
          <a:p>
            <a:pPr marL="514350" lvl="0" indent="-514350" fontAlgn="base">
              <a:buFont typeface="+mj-lt"/>
              <a:buAutoNum type="arabicPeriod"/>
            </a:pPr>
            <a:r>
              <a:rPr lang="en-IN" sz="1900" b="1" dirty="0"/>
              <a:t>Permanently closing down up to 10 of the least used runs. This doesn't impact any other resort statistics:</a:t>
            </a:r>
            <a:r>
              <a:rPr lang="en-IN" sz="1900" u="sng" dirty="0"/>
              <a:t> </a:t>
            </a:r>
            <a:r>
              <a:rPr lang="en-IN" sz="1900" dirty="0"/>
              <a:t>According to the model, if they close more than one run this will reduce ticket price, which could mean a revenue loss. </a:t>
            </a:r>
          </a:p>
          <a:p>
            <a:pPr marL="514350" lvl="0" indent="-514350" fontAlgn="base">
              <a:buFont typeface="+mj-lt"/>
              <a:buAutoNum type="arabicPeriod"/>
            </a:pPr>
            <a:r>
              <a:rPr lang="en-IN" sz="1900" b="1" dirty="0"/>
              <a:t>Increase the vertical drop by adding a run to a point 150 feet lower down but requiring the installation of an additional chair lift to bring skiers back up, without additional snow making coverage:</a:t>
            </a:r>
            <a:r>
              <a:rPr lang="en-IN" sz="1900" dirty="0"/>
              <a:t> This scenario increases support for ticket price by $2.36. Over the season, this could be expected to amount to $4136364</a:t>
            </a:r>
          </a:p>
          <a:p>
            <a:pPr marL="514350" lvl="0" indent="-514350" fontAlgn="base">
              <a:buFont typeface="+mj-lt"/>
              <a:buAutoNum type="arabicPeriod"/>
            </a:pPr>
            <a:r>
              <a:rPr lang="en-IN" sz="1900" b="1" dirty="0"/>
              <a:t>Same as number 2, but adding 2 acres of snow making cover:</a:t>
            </a:r>
            <a:r>
              <a:rPr lang="en-IN" sz="1900" dirty="0"/>
              <a:t> This gives the same profit as given by scenario 2. </a:t>
            </a:r>
          </a:p>
          <a:p>
            <a:pPr marL="514350" lvl="0" indent="-514350" fontAlgn="base">
              <a:buFont typeface="+mj-lt"/>
              <a:buAutoNum type="arabicPeriod"/>
            </a:pPr>
            <a:r>
              <a:rPr lang="en-IN" sz="1900" b="1" dirty="0"/>
              <a:t>Increase the longest run by 0.2 mile to boast 3.5 miles length, requiring an additional snow making coverage of 4 acres:</a:t>
            </a:r>
            <a:r>
              <a:rPr lang="en-IN" sz="1900" dirty="0"/>
              <a:t> This scenario makes no difference in profit at all. </a:t>
            </a:r>
          </a:p>
          <a:p>
            <a:endParaRPr lang="en-IN" dirty="0"/>
          </a:p>
        </p:txBody>
      </p:sp>
    </p:spTree>
    <p:extLst>
      <p:ext uri="{BB962C8B-B14F-4D97-AF65-F5344CB8AC3E}">
        <p14:creationId xmlns:p14="http://schemas.microsoft.com/office/powerpoint/2010/main" val="55476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62AB-1354-E4B8-D4B5-02D85BDEF1A2}"/>
              </a:ext>
            </a:extLst>
          </p:cNvPr>
          <p:cNvSpPr>
            <a:spLocks noGrp="1"/>
          </p:cNvSpPr>
          <p:nvPr>
            <p:ph type="title"/>
          </p:nvPr>
        </p:nvSpPr>
        <p:spPr/>
        <p:txBody>
          <a:bodyPr/>
          <a:lstStyle/>
          <a:p>
            <a:r>
              <a:rPr lang="en-US" dirty="0"/>
              <a:t>Summary and conclusion</a:t>
            </a:r>
            <a:endParaRPr lang="en-IN" dirty="0"/>
          </a:p>
        </p:txBody>
      </p:sp>
      <p:sp>
        <p:nvSpPr>
          <p:cNvPr id="3" name="Content Placeholder 2">
            <a:extLst>
              <a:ext uri="{FF2B5EF4-FFF2-40B4-BE49-F238E27FC236}">
                <a16:creationId xmlns:a16="http://schemas.microsoft.com/office/drawing/2014/main" id="{EE4524FC-C84D-7010-1D09-94E4316E631F}"/>
              </a:ext>
            </a:extLst>
          </p:cNvPr>
          <p:cNvSpPr>
            <a:spLocks noGrp="1"/>
          </p:cNvSpPr>
          <p:nvPr>
            <p:ph idx="1"/>
          </p:nvPr>
        </p:nvSpPr>
        <p:spPr/>
        <p:txBody>
          <a:bodyPr>
            <a:normAutofit lnSpcReduction="10000"/>
          </a:bodyPr>
          <a:lstStyle/>
          <a:p>
            <a:pPr marL="0" indent="0">
              <a:buNone/>
            </a:pPr>
            <a:r>
              <a:rPr lang="en-IN" sz="2400" b="1" dirty="0"/>
              <a:t>Conclusion and Future scope of work</a:t>
            </a:r>
            <a:endParaRPr lang="en-IN" sz="2400" dirty="0"/>
          </a:p>
          <a:p>
            <a:r>
              <a:rPr lang="en-IN" sz="2000" dirty="0"/>
              <a:t>The data focused only on ticket price for modelling ticket price. This could lead to lack of information from other factors, such as maintenance costs, staff expenses and some other notable factors. We had information on operating costs of the new chair lift, but some other information cost such as maintenance cost, food and beverages supply and/or staff expenses would be useful in modelling the ticket prices here. </a:t>
            </a:r>
          </a:p>
          <a:p>
            <a:endParaRPr lang="en-IN" sz="2000" dirty="0"/>
          </a:p>
          <a:p>
            <a:r>
              <a:rPr lang="en-IN" sz="2000" dirty="0"/>
              <a:t>Yes, Big Mountain's modelled ticket price is 97.85 which seems pretty high than its actual price which is 81.0. This could be due to whether big mountain is undervaluing its offerings or they are not focusing on features where customers want to pay more. To decide a profitable ticket price without losing market competitiveness we can discuss with stake holders and/or compare price with other big-league resorts. To make this model we can create an interactive dashboard for stakeholders or business leaders giving proper documentation where they can input and see the changes in features according to the trend.</a:t>
            </a:r>
          </a:p>
          <a:p>
            <a:endParaRPr lang="en-IN" dirty="0"/>
          </a:p>
        </p:txBody>
      </p:sp>
    </p:spTree>
    <p:extLst>
      <p:ext uri="{BB962C8B-B14F-4D97-AF65-F5344CB8AC3E}">
        <p14:creationId xmlns:p14="http://schemas.microsoft.com/office/powerpoint/2010/main" val="65602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1167</Words>
  <Application>Microsoft Office PowerPoint</Application>
  <PresentationFormat>Widescreen</PresentationFormat>
  <Paragraphs>63</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Project Title</vt:lpstr>
      <vt:lpstr>Problem Identification </vt:lpstr>
      <vt:lpstr>Problem Identification </vt:lpstr>
      <vt:lpstr>Recommendation and key findings </vt:lpstr>
      <vt:lpstr>Modeling results and analysis</vt:lpstr>
      <vt:lpstr>Modeling results and analysis</vt:lpstr>
      <vt:lpstr>Modeling results and analysis</vt:lpstr>
      <vt:lpstr>Modeling results and analysis</vt:lpstr>
      <vt:lpstr>Summary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suniksha gupta</dc:creator>
  <cp:lastModifiedBy>suniksha gupta</cp:lastModifiedBy>
  <cp:revision>2</cp:revision>
  <dcterms:created xsi:type="dcterms:W3CDTF">2025-07-14T16:30:39Z</dcterms:created>
  <dcterms:modified xsi:type="dcterms:W3CDTF">2025-07-14T16:32:22Z</dcterms:modified>
</cp:coreProperties>
</file>